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503920" y="0"/>
            <a:ext cx="914400" cy="6858000"/>
          </a:xfrm>
          <a:prstGeom prst="rect">
            <a:avLst/>
          </a:prstGeom>
          <a:solidFill>
            <a:srgbClr val="19B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0" y="0"/>
            <a:ext cx="502920" cy="6858000"/>
          </a:xfrm>
          <a:prstGeom prst="rect">
            <a:avLst/>
          </a:prstGeom>
          <a:solidFill>
            <a:srgbClr val="69D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0"/>
            <a:ext cx="1280160" cy="6858000"/>
          </a:xfrm>
          <a:prstGeom prst="rect">
            <a:avLst/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0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19B7A5"/>
                </a:solidFill>
                <a:latin typeface="Aptos"/>
              </a:defRPr>
            </a:pPr>
            <a:r>
              <a:t>DIGITAL TWIN CHALLENGE 2026 • HAPPIEST HEALTH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4200" b="1">
                <a:solidFill>
                  <a:srgbClr val="FFFFFF"/>
                </a:solidFill>
                <a:latin typeface="Aptos"/>
              </a:defRPr>
            </a:pPr>
            <a:r>
              <a:t>GlucoTwin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40280"/>
            <a:ext cx="7040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69D6D0"/>
                </a:solidFill>
                <a:latin typeface="Aptos"/>
              </a:defRPr>
            </a:pPr>
            <a:r>
              <a:t>A digital twin prototype for</a:t>
            </a:r>
          </a:p>
          <a:p>
            <a:pPr algn="l">
              <a:spcAft>
                <a:spcPts val="500"/>
              </a:spcAft>
              <a:defRPr sz="2500" b="1">
                <a:solidFill>
                  <a:srgbClr val="69D6D0"/>
                </a:solidFill>
                <a:latin typeface="Aptos"/>
              </a:defRPr>
            </a:pPr>
            <a:r>
              <a:t>Type 2 Diabetes care 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5760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Dual-stream EHR + simulated wearable data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Glycaemic event risk estimates • Clinician review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074920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B1BECD"/>
                </a:solidFill>
                <a:latin typeface="Aptos"/>
              </a:defRPr>
            </a:pPr>
            <a:r>
              <a:t>Team: [ADD OFFICIAL TEAM NAME]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B1BECD"/>
                </a:solidFill>
                <a:latin typeface="Aptos"/>
              </a:defRPr>
            </a:pPr>
            <a:r>
              <a:t>Institution: [ADD COLLEGE / INCUBATOR]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989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F0B44D"/>
                </a:solidFill>
                <a:latin typeface="Aptos"/>
              </a:defRPr>
            </a:pPr>
            <a:r>
              <a:t>SYNTHETIC DATA ONLY — NOT FOR CLINICAL 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37960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700" b="0">
                <a:solidFill>
                  <a:srgbClr val="B1BECD"/>
                </a:solidFill>
                <a:latin typeface="Aptos"/>
              </a:defRPr>
            </a:pPr>
            <a:r>
              <a:t>GLUCOTWIN • SYNTHETIC DATA ONLY • NOT FOR CLINICAL 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1052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B1BECD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9B7A5"/>
                </a:solidFill>
                <a:latin typeface="Aptos"/>
              </a:defRPr>
            </a:pPr>
            <a:r>
              <a:t>01 | PROBLEM &amp;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The problem: risk can change between visits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45720"/>
          </a:xfrm>
          <a:prstGeom prst="rect">
            <a:avLst/>
          </a:prstGeom>
          <a:solidFill>
            <a:srgbClr val="19B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700" b="0">
                <a:solidFill>
                  <a:srgbClr val="B1BECD"/>
                </a:solidFill>
                <a:latin typeface="Aptos"/>
              </a:defRPr>
            </a:pPr>
            <a:r>
              <a:t>GLUCOTWIN • SYNTHETIC DATA ONLY • NOT FOR CLINICAL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B1BECD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3474720" cy="3246120"/>
          </a:xfrm>
          <a:prstGeom prst="roundRect">
            <a:avLst/>
          </a:prstGeom>
          <a:solidFill>
            <a:srgbClr val="182438"/>
          </a:solidFill>
          <a:ln>
            <a:solidFill>
              <a:srgbClr val="30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783080"/>
            <a:ext cx="3154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69D6D0"/>
                </a:solidFill>
                <a:latin typeface="Aptos"/>
              </a:defRPr>
            </a:pPr>
            <a:r>
              <a:t>DISCONNECTED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176272"/>
            <a:ext cx="3154679" cy="262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Clinical history, laboratory values, medication context and wearable trends may be reviewed separately.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74720" cy="3246120"/>
          </a:xfrm>
          <a:prstGeom prst="roundRect">
            <a:avLst/>
          </a:prstGeom>
          <a:solidFill>
            <a:srgbClr val="182438"/>
          </a:solidFill>
          <a:ln>
            <a:solidFill>
              <a:srgbClr val="30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783080"/>
            <a:ext cx="3154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19B7A5"/>
                </a:solidFill>
                <a:latin typeface="Aptos"/>
              </a:defRPr>
            </a:pPr>
            <a:r>
              <a:t>FAST-CHANGING GLUCOSE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176272"/>
            <a:ext cx="3154679" cy="262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Hyper- and hypoglycaemic excursions can develop over hours between scheduled appointments.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645920"/>
            <a:ext cx="3429000" cy="3246120"/>
          </a:xfrm>
          <a:prstGeom prst="roundRect">
            <a:avLst/>
          </a:prstGeom>
          <a:solidFill>
            <a:srgbClr val="182438"/>
          </a:solidFill>
          <a:ln>
            <a:solidFill>
              <a:srgbClr val="30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1" y="178308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F0B44D"/>
                </a:solidFill>
                <a:latin typeface="Aptos"/>
              </a:defRPr>
            </a:pPr>
            <a:r>
              <a:t>REVIEW WORKLOAD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2176272"/>
            <a:ext cx="3108960" cy="262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Care teams need a consolidated view of recent trends, risk estimates and investigations to review.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303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Project question: can a patient-specific digital-twin workflow combine these streams and surface useful review prompts?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9B7A5"/>
                </a:solidFill>
                <a:latin typeface="Aptos"/>
              </a:defRPr>
            </a:pPr>
            <a:r>
              <a:t>02 |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What GlucoTwin is designed to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45720"/>
          </a:xfrm>
          <a:prstGeom prst="rect">
            <a:avLst/>
          </a:prstGeom>
          <a:solidFill>
            <a:srgbClr val="19B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700" b="0">
                <a:solidFill>
                  <a:srgbClr val="B1BECD"/>
                </a:solidFill>
                <a:latin typeface="Aptos"/>
              </a:defRPr>
            </a:pPr>
            <a:r>
              <a:t>GLUCOTWIN • SYNTHETIC DATA ONLY • NOT FOR CLINICAL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B1BEC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2606040" cy="3383280"/>
          </a:xfrm>
          <a:prstGeom prst="roundRect">
            <a:avLst/>
          </a:prstGeom>
          <a:solidFill>
            <a:srgbClr val="182438"/>
          </a:solidFill>
          <a:ln>
            <a:solidFill>
              <a:srgbClr val="30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82880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69D6D0"/>
                </a:solidFill>
                <a:latin typeface="Aptos"/>
              </a:defRPr>
            </a:pPr>
            <a:r>
              <a:t>1  INGEST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221992"/>
            <a:ext cx="2286000" cy="2761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Synthetic EHR context and simulated CGM / wearable time series.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691640"/>
            <a:ext cx="2606040" cy="3383280"/>
          </a:xfrm>
          <a:prstGeom prst="roundRect">
            <a:avLst/>
          </a:prstGeom>
          <a:solidFill>
            <a:srgbClr val="182438"/>
          </a:solidFill>
          <a:ln>
            <a:solidFill>
              <a:srgbClr val="30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85032" y="182880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19B7A5"/>
                </a:solidFill>
                <a:latin typeface="Aptos"/>
              </a:defRPr>
            </a:pPr>
            <a:r>
              <a:t>2  FUSE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5032" y="2221992"/>
            <a:ext cx="2286000" cy="2761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Engineer time-window features and combine them with clinical context.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691640"/>
            <a:ext cx="2606040" cy="3383280"/>
          </a:xfrm>
          <a:prstGeom prst="roundRect">
            <a:avLst/>
          </a:prstGeom>
          <a:solidFill>
            <a:srgbClr val="182438"/>
          </a:solidFill>
          <a:ln>
            <a:solidFill>
              <a:srgbClr val="30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182880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F0B44D"/>
                </a:solidFill>
                <a:latin typeface="Aptos"/>
              </a:defRPr>
            </a:pPr>
            <a:r>
              <a:t>3  ESTIMATE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2221992"/>
            <a:ext cx="2286000" cy="2761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LightGBM estimates event risk over a nominal 120-minute horizon.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1691640"/>
            <a:ext cx="2331720" cy="3383280"/>
          </a:xfrm>
          <a:prstGeom prst="roundRect">
            <a:avLst/>
          </a:prstGeom>
          <a:solidFill>
            <a:srgbClr val="182438"/>
          </a:solidFill>
          <a:ln>
            <a:solidFill>
              <a:srgbClr val="30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54312" y="1828800"/>
            <a:ext cx="2011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69D6D0"/>
                </a:solidFill>
                <a:latin typeface="Aptos"/>
              </a:defRPr>
            </a:pPr>
            <a:r>
              <a:t>4 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54312" y="2221992"/>
            <a:ext cx="2011679" cy="2761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Display outputs, investigation prompts and audit events for clinician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440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The prototype supports review; it does not automate clinical decisions.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9B7A5"/>
                </a:solidFill>
                <a:latin typeface="Aptos"/>
              </a:defRPr>
            </a:pPr>
            <a:r>
              <a:t>03 |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Architecture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45720"/>
          </a:xfrm>
          <a:prstGeom prst="rect">
            <a:avLst/>
          </a:prstGeom>
          <a:solidFill>
            <a:srgbClr val="19B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700" b="0">
                <a:solidFill>
                  <a:srgbClr val="B1BECD"/>
                </a:solidFill>
                <a:latin typeface="Aptos"/>
              </a:defRPr>
            </a:pPr>
            <a:r>
              <a:t>GLUCOTWIN • SYNTHETIC DATA ONLY • NOT FOR CLINICAL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B1BECD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2743200" cy="1051560"/>
          </a:xfrm>
          <a:prstGeom prst="roundRect">
            <a:avLst/>
          </a:prstGeom>
          <a:solidFill>
            <a:srgbClr val="182438"/>
          </a:solidFill>
          <a:ln>
            <a:solidFill>
              <a:srgbClr val="3A4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9D6D0"/>
                </a:solidFill>
                <a:latin typeface="Aptos"/>
              </a:defRPr>
            </a:pPr>
            <a:r>
              <a:t>STREAM A | EHR</a:t>
            </a:r>
          </a:p>
          <a:p>
            <a:pPr>
              <a:defRPr sz="900">
                <a:solidFill>
                  <a:srgbClr val="FFFFFF"/>
                </a:solidFill>
                <a:latin typeface="Aptos"/>
              </a:defRPr>
            </a:pPr>
            <a:r>
              <a:t>Synthetic diagnoses, labs, meds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2743200" cy="1051560"/>
          </a:xfrm>
          <a:prstGeom prst="roundRect">
            <a:avLst/>
          </a:prstGeom>
          <a:solidFill>
            <a:srgbClr val="182438"/>
          </a:solidFill>
          <a:ln>
            <a:solidFill>
              <a:srgbClr val="3A4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9D6D0"/>
                </a:solidFill>
                <a:latin typeface="Aptos"/>
              </a:defRPr>
            </a:pPr>
            <a:r>
              <a:t>STREAM B | WEARABLES</a:t>
            </a:r>
          </a:p>
          <a:p>
            <a:pPr>
              <a:defRPr sz="900">
                <a:solidFill>
                  <a:srgbClr val="FFFFFF"/>
                </a:solidFill>
                <a:latin typeface="Aptos"/>
              </a:defRPr>
            </a:pPr>
            <a:r>
              <a:t>Simulated CGM, HRV, sleep, steps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77639" y="2331720"/>
            <a:ext cx="2331720" cy="1234440"/>
          </a:xfrm>
          <a:prstGeom prst="roundRect">
            <a:avLst/>
          </a:prstGeom>
          <a:solidFill>
            <a:srgbClr val="182438"/>
          </a:solidFill>
          <a:ln>
            <a:solidFill>
              <a:srgbClr val="3A4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9B7A5"/>
                </a:solidFill>
                <a:latin typeface="Aptos"/>
              </a:defRPr>
            </a:pPr>
            <a:r>
              <a:t>FEATURE FUSION</a:t>
            </a:r>
          </a:p>
          <a:p>
            <a:pPr>
              <a:defRPr sz="900">
                <a:solidFill>
                  <a:srgbClr val="FFFFFF"/>
                </a:solidFill>
                <a:latin typeface="Aptos"/>
              </a:defRPr>
            </a:pPr>
            <a:r>
              <a:t>Validation + time windows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2331720"/>
            <a:ext cx="2011680" cy="1234440"/>
          </a:xfrm>
          <a:prstGeom prst="roundRect">
            <a:avLst/>
          </a:prstGeom>
          <a:solidFill>
            <a:srgbClr val="182438"/>
          </a:solidFill>
          <a:ln>
            <a:solidFill>
              <a:srgbClr val="3A4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0B44D"/>
                </a:solidFill>
                <a:latin typeface="Aptos"/>
              </a:defRPr>
            </a:pPr>
            <a:r>
              <a:t>LIGHTGBM</a:t>
            </a:r>
          </a:p>
          <a:p>
            <a:pPr>
              <a:defRPr sz="900">
                <a:solidFill>
                  <a:srgbClr val="FFFFFF"/>
                </a:solidFill>
                <a:latin typeface="Aptos"/>
              </a:defRPr>
            </a:pPr>
            <a:r>
              <a:t>Hyper / hypo estimates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0" y="2331720"/>
            <a:ext cx="1920240" cy="1234440"/>
          </a:xfrm>
          <a:prstGeom prst="roundRect">
            <a:avLst/>
          </a:prstGeom>
          <a:solidFill>
            <a:srgbClr val="182438"/>
          </a:solidFill>
          <a:ln>
            <a:solidFill>
              <a:srgbClr val="3A4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9D6D0"/>
                </a:solidFill>
                <a:latin typeface="Aptos"/>
              </a:defRPr>
            </a:pPr>
            <a:r>
              <a:t>API + UI</a:t>
            </a:r>
          </a:p>
          <a:p>
            <a:pPr>
              <a:defRPr sz="900">
                <a:solidFill>
                  <a:srgbClr val="FFFFFF"/>
                </a:solidFill>
                <a:latin typeface="Aptos"/>
              </a:defRPr>
            </a:pPr>
            <a:r>
              <a:t>Clinician review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83280" y="2194560"/>
            <a:ext cx="594359" cy="457200"/>
          </a:xfrm>
          <a:prstGeom prst="line">
            <a:avLst/>
          </a:prstGeom>
          <a:ln w="25400">
            <a:solidFill>
              <a:srgbClr val="19B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383280" y="3200400"/>
            <a:ext cx="594359" cy="411480"/>
          </a:xfrm>
          <a:prstGeom prst="line">
            <a:avLst/>
          </a:prstGeom>
          <a:ln w="25400">
            <a:solidFill>
              <a:srgbClr val="19B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309360" y="2926080"/>
            <a:ext cx="640080" cy="0"/>
          </a:xfrm>
          <a:prstGeom prst="line">
            <a:avLst/>
          </a:prstGeom>
          <a:ln w="25400">
            <a:solidFill>
              <a:srgbClr val="19B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961120" y="2926080"/>
            <a:ext cx="640080" cy="0"/>
          </a:xfrm>
          <a:prstGeom prst="line">
            <a:avLst/>
          </a:prstGeom>
          <a:ln w="25400">
            <a:solidFill>
              <a:srgbClr val="19B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977639" y="4251960"/>
            <a:ext cx="2743200" cy="868680"/>
          </a:xfrm>
          <a:prstGeom prst="roundRect">
            <a:avLst/>
          </a:prstGeom>
          <a:solidFill>
            <a:srgbClr val="182438"/>
          </a:solidFill>
          <a:ln>
            <a:solidFill>
              <a:srgbClr val="3A4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9D6D0"/>
                </a:solidFill>
                <a:latin typeface="Aptos"/>
              </a:defRPr>
            </a:pPr>
            <a:r>
              <a:t>TWIN STATE + RULES</a:t>
            </a:r>
          </a:p>
          <a:p>
            <a:pPr>
              <a:defRPr sz="900">
                <a:solidFill>
                  <a:srgbClr val="FFFFFF"/>
                </a:solidFill>
                <a:latin typeface="Aptos"/>
              </a:defRPr>
            </a:pPr>
            <a:r>
              <a:t>Review prompts; audit trail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4251960"/>
            <a:ext cx="4389120" cy="868680"/>
          </a:xfrm>
          <a:prstGeom prst="roundRect">
            <a:avLst/>
          </a:prstGeom>
          <a:solidFill>
            <a:srgbClr val="182438"/>
          </a:solidFill>
          <a:ln>
            <a:solidFill>
              <a:srgbClr val="3A4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9B7A5"/>
                </a:solidFill>
                <a:latin typeface="Aptos"/>
              </a:defRPr>
            </a:pPr>
            <a:r>
              <a:t>EXPLANATIONS + CLINICIAN ACTIONS</a:t>
            </a:r>
          </a:p>
          <a:p>
            <a:pPr>
              <a:defRPr sz="900">
                <a:solidFill>
                  <a:srgbClr val="FFFFFF"/>
                </a:solidFill>
                <a:latin typeface="Aptos"/>
              </a:defRPr>
            </a:pPr>
            <a:r>
              <a:t>Contributions where configured; accept / defer / override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5486400" y="3566160"/>
            <a:ext cx="2468879" cy="685800"/>
          </a:xfrm>
          <a:prstGeom prst="line">
            <a:avLst/>
          </a:prstGeom>
          <a:ln w="25400">
            <a:solidFill>
              <a:srgbClr val="19B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955279" y="3566160"/>
            <a:ext cx="1188721" cy="685800"/>
          </a:xfrm>
          <a:prstGeom prst="line">
            <a:avLst/>
          </a:prstGeom>
          <a:ln w="25400">
            <a:solidFill>
              <a:srgbClr val="19B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1520" y="55321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B1BECD"/>
                </a:solidFill>
                <a:latin typeface="Aptos"/>
              </a:defRPr>
            </a:pPr>
            <a:r>
              <a:t>Human-in-the-loop: estimates and prompts only; clinicians retain decision authority.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9B7A5"/>
                </a:solidFill>
                <a:latin typeface="Aptos"/>
              </a:defRPr>
            </a:pPr>
            <a:r>
              <a:t>04 |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Technical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45720"/>
          </a:xfrm>
          <a:prstGeom prst="rect">
            <a:avLst/>
          </a:prstGeom>
          <a:solidFill>
            <a:srgbClr val="19B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700" b="0">
                <a:solidFill>
                  <a:srgbClr val="B1BECD"/>
                </a:solidFill>
                <a:latin typeface="Aptos"/>
              </a:defRPr>
            </a:pPr>
            <a:r>
              <a:t>GLUCOTWIN • SYNTHETIC DATA ONLY • NOT FOR CLINICAL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B1BECD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2743200" cy="530352"/>
          </a:xfrm>
          <a:prstGeom prst="roundRect">
            <a:avLst/>
          </a:prstGeom>
          <a:solidFill>
            <a:srgbClr val="182438"/>
          </a:solidFill>
          <a:ln>
            <a:solidFill>
              <a:srgbClr val="30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3736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19B7A5"/>
                </a:solidFill>
                <a:latin typeface="Aptos"/>
              </a:defRPr>
            </a:pPr>
            <a:r>
              <a:t>DATA &amp;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130552"/>
            <a:ext cx="2423160" cy="-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FFFFFF"/>
                </a:solidFill>
                <a:latin typeface="Aptos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3703320" y="1655064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Python 3.11+ • NumPy • SciPy • Pandas • Parquet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286000"/>
            <a:ext cx="2743200" cy="530352"/>
          </a:xfrm>
          <a:prstGeom prst="roundRect">
            <a:avLst/>
          </a:prstGeom>
          <a:solidFill>
            <a:srgbClr val="182438"/>
          </a:solidFill>
          <a:ln>
            <a:solidFill>
              <a:srgbClr val="30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42316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19B7A5"/>
                </a:solidFill>
                <a:latin typeface="Aptos"/>
              </a:defRPr>
            </a:pPr>
            <a:r>
              <a:t>ML &amp; EVALUATION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816352"/>
            <a:ext cx="2423160" cy="-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FFFFFF"/>
                </a:solidFill>
                <a:latin typeface="Aptos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3703320" y="2340864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LightGBM • scikit-learn • AUROC / AUPRC / Brier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971800"/>
            <a:ext cx="2743200" cy="530352"/>
          </a:xfrm>
          <a:prstGeom prst="roundRect">
            <a:avLst/>
          </a:prstGeom>
          <a:solidFill>
            <a:srgbClr val="182438"/>
          </a:solidFill>
          <a:ln>
            <a:solidFill>
              <a:srgbClr val="30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10896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19B7A5"/>
                </a:solidFill>
                <a:latin typeface="Aptos"/>
              </a:defRPr>
            </a:pPr>
            <a:r>
              <a:t>EXPLAINABILITY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3502152"/>
            <a:ext cx="2423160" cy="-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FFFFFF"/>
                </a:solidFill>
                <a:latin typeface="Aptos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3703320" y="3026664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SHAP / feature contribution where configured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657600"/>
            <a:ext cx="2743200" cy="530352"/>
          </a:xfrm>
          <a:prstGeom prst="roundRect">
            <a:avLst/>
          </a:prstGeom>
          <a:solidFill>
            <a:srgbClr val="182438"/>
          </a:solidFill>
          <a:ln>
            <a:solidFill>
              <a:srgbClr val="30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79476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19B7A5"/>
                </a:solidFill>
                <a:latin typeface="Aptos"/>
              </a:defRPr>
            </a:pPr>
            <a:r>
              <a:t>API &amp; FRONTEND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187952"/>
            <a:ext cx="2423160" cy="-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FFFFFF"/>
                </a:solidFill>
                <a:latin typeface="Aptos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3703320" y="3712463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FastAPI • Pydantic • React • TypeScript • Vite • Recharts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343400"/>
            <a:ext cx="2743200" cy="530352"/>
          </a:xfrm>
          <a:prstGeom prst="roundRect">
            <a:avLst/>
          </a:prstGeom>
          <a:solidFill>
            <a:srgbClr val="182438"/>
          </a:solidFill>
          <a:ln>
            <a:solidFill>
              <a:srgbClr val="30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448056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19B7A5"/>
                </a:solidFill>
                <a:latin typeface="Aptos"/>
              </a:defRPr>
            </a:pPr>
            <a:r>
              <a:t>STATE &amp; QA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873752"/>
            <a:ext cx="2423160" cy="-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FFFFFF"/>
                </a:solidFill>
                <a:latin typeface="Aptos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3703320" y="4398264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PostgreSQL • SQLite twin state • pytest • Docker Compose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029200"/>
            <a:ext cx="2743200" cy="530352"/>
          </a:xfrm>
          <a:prstGeom prst="roundRect">
            <a:avLst/>
          </a:prstGeom>
          <a:solidFill>
            <a:srgbClr val="182438"/>
          </a:solidFill>
          <a:ln>
            <a:solidFill>
              <a:srgbClr val="30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516636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19B7A5"/>
                </a:solidFill>
                <a:latin typeface="Aptos"/>
              </a:defRPr>
            </a:pPr>
            <a:r>
              <a:t>INTEROPERABILITY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" y="5559552"/>
            <a:ext cx="2423160" cy="-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FFFFFF"/>
                </a:solidFill>
                <a:latin typeface="Aptos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3703320" y="5084064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FHIR R4 mapping is a design direction; integration requires validation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9B7A5"/>
                </a:solidFill>
                <a:latin typeface="Aptos"/>
              </a:defRPr>
            </a:pPr>
            <a:r>
              <a:t>05 | EXPERIMENTAL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Evaluation: current generated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45720"/>
          </a:xfrm>
          <a:prstGeom prst="rect">
            <a:avLst/>
          </a:prstGeom>
          <a:solidFill>
            <a:srgbClr val="19B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700" b="0">
                <a:solidFill>
                  <a:srgbClr val="B1BECD"/>
                </a:solidFill>
                <a:latin typeface="Aptos"/>
              </a:defRPr>
            </a:pPr>
            <a:r>
              <a:t>GLUCOTWIN • SYNTHETIC DATA ONLY • NOT FOR CLINICAL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B1BECD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69D6D0"/>
                </a:solidFill>
                <a:latin typeface="Aptos"/>
              </a:defRPr>
            </a:pPr>
            <a:r>
              <a:t>HEADLINE METRICS • metrics.json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Hyperglycaemia</a:t>
            </a:r>
          </a:p>
          <a:p>
            <a:pPr algn="l">
              <a:spcAft>
                <a:spcPts val="5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AUROC 0.9192   AUPRC 0.8277</a:t>
            </a:r>
          </a:p>
          <a:p>
            <a:pPr algn="l">
              <a:spcAft>
                <a:spcPts val="5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Brier 0.0652   N 54,946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47472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Hypoglycaemia</a:t>
            </a:r>
          </a:p>
          <a:p>
            <a:pPr algn="l">
              <a:spcAft>
                <a:spcPts val="5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AUROC 0.5000   AUPRC 0.0192</a:t>
            </a:r>
          </a:p>
          <a:p>
            <a:pPr algn="l">
              <a:spcAft>
                <a:spcPts val="5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Brier 0.0192   N 114,440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737360"/>
            <a:ext cx="4846320" cy="3337560"/>
          </a:xfrm>
          <a:prstGeom prst="roundRect">
            <a:avLst/>
          </a:prstGeom>
          <a:solidFill>
            <a:srgbClr val="182438"/>
          </a:solidFill>
          <a:ln>
            <a:solidFill>
              <a:srgbClr val="30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874519"/>
            <a:ext cx="4526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F0B44D"/>
                </a:solidFill>
                <a:latin typeface="Aptos"/>
              </a:defRPr>
            </a:pPr>
            <a:r>
              <a:t>RECONCILIATION REQUIRED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2267712"/>
            <a:ext cx="4526280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Ablation CSV reports full-fusion AUROC 0.9789 (hyper) and 0.8264 (hypo), which do not match headline metrics. Resolve the discrepancy before performance claims.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3492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B1BECD"/>
                </a:solidFill>
                <a:latin typeface="Aptos"/>
              </a:defRPr>
            </a:pPr>
            <a:r>
              <a:t>Synthetic-data experimental metrics are not clinical validation or proof of real-world generalisation.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9B7A5"/>
                </a:solidFill>
                <a:latin typeface="Aptos"/>
              </a:defRPr>
            </a:pPr>
            <a:r>
              <a:t>06 | ABLATION CSV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Ablation study: feature-set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45720"/>
          </a:xfrm>
          <a:prstGeom prst="rect">
            <a:avLst/>
          </a:prstGeom>
          <a:solidFill>
            <a:srgbClr val="19B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700" b="0">
                <a:solidFill>
                  <a:srgbClr val="B1BECD"/>
                </a:solidFill>
                <a:latin typeface="Aptos"/>
              </a:defRPr>
            </a:pPr>
            <a:r>
              <a:t>GLUCOTWIN • SYNTHETIC DATA ONLY • NOT FOR CLINICAL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B1BECD"/>
                </a:solidFill>
                <a:latin typeface="Aptos"/>
              </a:defRPr>
            </a:pPr>
            <a:r>
              <a:t>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00200"/>
          <a:ext cx="960120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840480"/>
                <a:gridCol w="2103120"/>
                <a:gridCol w="2103120"/>
              </a:tblGrid>
              <a:tr h="492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9D6D0"/>
                          </a:solidFill>
                          <a:latin typeface="Aptos"/>
                        </a:defRPr>
                      </a:pPr>
                      <a:r>
                        <a:t>Target</a:t>
                      </a:r>
                    </a:p>
                  </a:txBody>
                  <a:tcPr anchor="ctr">
                    <a:solidFill>
                      <a:srgbClr val="18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9D6D0"/>
                          </a:solidFill>
                          <a:latin typeface="Aptos"/>
                        </a:defRPr>
                      </a:pPr>
                      <a:r>
                        <a:t>Feature set</a:t>
                      </a:r>
                    </a:p>
                  </a:txBody>
                  <a:tcPr anchor="ctr">
                    <a:solidFill>
                      <a:srgbClr val="18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9D6D0"/>
                          </a:solidFill>
                          <a:latin typeface="Aptos"/>
                        </a:defRPr>
                      </a:pPr>
                      <a:r>
                        <a:t>AUROC</a:t>
                      </a:r>
                    </a:p>
                  </a:txBody>
                  <a:tcPr anchor="ctr">
                    <a:solidFill>
                      <a:srgbClr val="18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9D6D0"/>
                          </a:solidFill>
                          <a:latin typeface="Aptos"/>
                        </a:defRPr>
                      </a:pPr>
                      <a:r>
                        <a:t>AUPRC</a:t>
                      </a:r>
                    </a:p>
                  </a:txBody>
                  <a:tcPr anchor="ctr">
                    <a:solidFill>
                      <a:srgbClr val="182438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Hyper</a:t>
                      </a:r>
                    </a:p>
                  </a:txBody>
                  <a:tcPr anchor="ctr">
                    <a:solidFill>
                      <a:srgbClr val="1F2F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EHR only</a:t>
                      </a:r>
                    </a:p>
                  </a:txBody>
                  <a:tcPr anchor="ctr">
                    <a:solidFill>
                      <a:srgbClr val="1F2F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0.8538</a:t>
                      </a:r>
                    </a:p>
                  </a:txBody>
                  <a:tcPr anchor="ctr">
                    <a:solidFill>
                      <a:srgbClr val="1F2F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0.6414</a:t>
                      </a:r>
                    </a:p>
                  </a:txBody>
                  <a:tcPr anchor="ctr">
                    <a:solidFill>
                      <a:srgbClr val="1F2F44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Hyper</a:t>
                      </a:r>
                    </a:p>
                  </a:txBody>
                  <a:tcPr anchor="ctr">
                    <a:solidFill>
                      <a:srgbClr val="18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CGM only</a:t>
                      </a:r>
                    </a:p>
                  </a:txBody>
                  <a:tcPr anchor="ctr">
                    <a:solidFill>
                      <a:srgbClr val="18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0.9520</a:t>
                      </a:r>
                    </a:p>
                  </a:txBody>
                  <a:tcPr anchor="ctr">
                    <a:solidFill>
                      <a:srgbClr val="18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0.8802</a:t>
                      </a:r>
                    </a:p>
                  </a:txBody>
                  <a:tcPr anchor="ctr">
                    <a:solidFill>
                      <a:srgbClr val="182438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Hyper</a:t>
                      </a:r>
                    </a:p>
                  </a:txBody>
                  <a:tcPr anchor="ctr">
                    <a:solidFill>
                      <a:srgbClr val="1F2F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CGM + wearable</a:t>
                      </a:r>
                    </a:p>
                  </a:txBody>
                  <a:tcPr anchor="ctr">
                    <a:solidFill>
                      <a:srgbClr val="1F2F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0.9786</a:t>
                      </a:r>
                    </a:p>
                  </a:txBody>
                  <a:tcPr anchor="ctr">
                    <a:solidFill>
                      <a:srgbClr val="1F2F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0.9408</a:t>
                      </a:r>
                    </a:p>
                  </a:txBody>
                  <a:tcPr anchor="ctr">
                    <a:solidFill>
                      <a:srgbClr val="1F2F44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Hyper</a:t>
                      </a:r>
                    </a:p>
                  </a:txBody>
                  <a:tcPr anchor="ctr">
                    <a:solidFill>
                      <a:srgbClr val="18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Full fusion</a:t>
                      </a:r>
                    </a:p>
                  </a:txBody>
                  <a:tcPr anchor="ctr">
                    <a:solidFill>
                      <a:srgbClr val="18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0.9789</a:t>
                      </a:r>
                    </a:p>
                  </a:txBody>
                  <a:tcPr anchor="ctr">
                    <a:solidFill>
                      <a:srgbClr val="18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0.9414</a:t>
                      </a:r>
                    </a:p>
                  </a:txBody>
                  <a:tcPr anchor="ctr">
                    <a:solidFill>
                      <a:srgbClr val="182438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Hypo</a:t>
                      </a:r>
                    </a:p>
                  </a:txBody>
                  <a:tcPr anchor="ctr">
                    <a:solidFill>
                      <a:srgbClr val="1F2F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EHR only</a:t>
                      </a:r>
                    </a:p>
                  </a:txBody>
                  <a:tcPr anchor="ctr">
                    <a:solidFill>
                      <a:srgbClr val="1F2F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0.7260</a:t>
                      </a:r>
                    </a:p>
                  </a:txBody>
                  <a:tcPr anchor="ctr">
                    <a:solidFill>
                      <a:srgbClr val="1F2F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0.0342</a:t>
                      </a:r>
                    </a:p>
                  </a:txBody>
                  <a:tcPr anchor="ctr">
                    <a:solidFill>
                      <a:srgbClr val="1F2F44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Hypo</a:t>
                      </a:r>
                    </a:p>
                  </a:txBody>
                  <a:tcPr anchor="ctr">
                    <a:solidFill>
                      <a:srgbClr val="18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CGM only</a:t>
                      </a:r>
                    </a:p>
                  </a:txBody>
                  <a:tcPr anchor="ctr">
                    <a:solidFill>
                      <a:srgbClr val="18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0.6366</a:t>
                      </a:r>
                    </a:p>
                  </a:txBody>
                  <a:tcPr anchor="ctr">
                    <a:solidFill>
                      <a:srgbClr val="18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0.0371</a:t>
                      </a:r>
                    </a:p>
                  </a:txBody>
                  <a:tcPr anchor="ctr">
                    <a:solidFill>
                      <a:srgbClr val="182438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Hypo</a:t>
                      </a:r>
                    </a:p>
                  </a:txBody>
                  <a:tcPr anchor="ctr">
                    <a:solidFill>
                      <a:srgbClr val="1F2F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CGM + wearable</a:t>
                      </a:r>
                    </a:p>
                  </a:txBody>
                  <a:tcPr anchor="ctr">
                    <a:solidFill>
                      <a:srgbClr val="1F2F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0.7154</a:t>
                      </a:r>
                    </a:p>
                  </a:txBody>
                  <a:tcPr anchor="ctr">
                    <a:solidFill>
                      <a:srgbClr val="1F2F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0.0446</a:t>
                      </a:r>
                    </a:p>
                  </a:txBody>
                  <a:tcPr anchor="ctr">
                    <a:solidFill>
                      <a:srgbClr val="1F2F44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Hypo</a:t>
                      </a:r>
                    </a:p>
                  </a:txBody>
                  <a:tcPr anchor="ctr">
                    <a:solidFill>
                      <a:srgbClr val="18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Full fusion</a:t>
                      </a:r>
                    </a:p>
                  </a:txBody>
                  <a:tcPr anchor="ctr">
                    <a:solidFill>
                      <a:srgbClr val="18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0.8264</a:t>
                      </a:r>
                    </a:p>
                  </a:txBody>
                  <a:tcPr anchor="ctr">
                    <a:solidFill>
                      <a:srgbClr val="18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0.0616</a:t>
                      </a:r>
                    </a:p>
                  </a:txBody>
                  <a:tcPr anchor="ctr">
                    <a:solidFill>
                      <a:srgbClr val="1824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9B7A5"/>
                </a:solidFill>
                <a:latin typeface="Aptos"/>
              </a:defRPr>
            </a:pPr>
            <a:r>
              <a:t>07 |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Safety, privacy and responsible 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45720"/>
          </a:xfrm>
          <a:prstGeom prst="rect">
            <a:avLst/>
          </a:prstGeom>
          <a:solidFill>
            <a:srgbClr val="19B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700" b="0">
                <a:solidFill>
                  <a:srgbClr val="B1BECD"/>
                </a:solidFill>
                <a:latin typeface="Aptos"/>
              </a:defRPr>
            </a:pPr>
            <a:r>
              <a:t>GLUCOTWIN • SYNTHETIC DATA ONLY • NOT FOR CLINICAL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B1BECD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3474720" cy="3474720"/>
          </a:xfrm>
          <a:prstGeom prst="roundRect">
            <a:avLst/>
          </a:prstGeom>
          <a:solidFill>
            <a:srgbClr val="182438"/>
          </a:solidFill>
          <a:ln>
            <a:solidFill>
              <a:srgbClr val="30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28800"/>
            <a:ext cx="3154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69D6D0"/>
                </a:solidFill>
                <a:latin typeface="Aptos"/>
              </a:defRPr>
            </a:pPr>
            <a:r>
              <a:t>SYNTHETIC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221992"/>
            <a:ext cx="3154679" cy="2852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Use generated records and simulated signals. Do not upload or commit real patient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91640"/>
            <a:ext cx="3474720" cy="3474720"/>
          </a:xfrm>
          <a:prstGeom prst="roundRect">
            <a:avLst/>
          </a:prstGeom>
          <a:solidFill>
            <a:srgbClr val="182438"/>
          </a:solidFill>
          <a:ln>
            <a:solidFill>
              <a:srgbClr val="30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828800"/>
            <a:ext cx="3154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19B7A5"/>
                </a:solidFill>
                <a:latin typeface="Aptos"/>
              </a:defRPr>
            </a:pPr>
            <a:r>
              <a:t>HUMAN IN THE 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221992"/>
            <a:ext cx="3154679" cy="2852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Investigation prompts are review suggestions, not orders. No automated diagnosis, prescribing or therapy change.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91640"/>
            <a:ext cx="3474720" cy="3474720"/>
          </a:xfrm>
          <a:prstGeom prst="roundRect">
            <a:avLst/>
          </a:prstGeom>
          <a:solidFill>
            <a:srgbClr val="182438"/>
          </a:solidFill>
          <a:ln>
            <a:solidFill>
              <a:srgbClr val="30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1828800"/>
            <a:ext cx="3154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F0B44D"/>
                </a:solidFill>
                <a:latin typeface="Aptos"/>
              </a:defRPr>
            </a:pPr>
            <a:r>
              <a:t>VALIDATION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2221992"/>
            <a:ext cx="3154679" cy="2852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Clinician review, independent validation, leakage checks, calibration, privacy/security and regulatory assessment are prerequisites for real-world use.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9B7A5"/>
                </a:solidFill>
                <a:latin typeface="Aptos"/>
              </a:defRPr>
            </a:pPr>
            <a:r>
              <a:t>08 |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Limitations and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45720"/>
          </a:xfrm>
          <a:prstGeom prst="rect">
            <a:avLst/>
          </a:prstGeom>
          <a:solidFill>
            <a:srgbClr val="19B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700" b="0">
                <a:solidFill>
                  <a:srgbClr val="B1BECD"/>
                </a:solidFill>
                <a:latin typeface="Aptos"/>
              </a:defRPr>
            </a:pPr>
            <a:r>
              <a:t>GLUCOTWIN • SYNTHETIC DATA ONLY • NOT FOR CLINICAL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B1BECD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3657600"/>
          </a:xfrm>
          <a:prstGeom prst="roundRect">
            <a:avLst/>
          </a:prstGeom>
          <a:solidFill>
            <a:srgbClr val="182438"/>
          </a:solidFill>
          <a:ln>
            <a:solidFill>
              <a:srgbClr val="30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83080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F0B44D"/>
                </a:solidFill>
                <a:latin typeface="Aptos"/>
              </a:defRPr>
            </a:pPr>
            <a:r>
              <a:t>CURRENT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176272"/>
            <a:ext cx="4800600" cy="3035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• Synthetic-only training/evaluation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• Headline and ablation metrics disagree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• Lead-time interpretation needs verification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• Clinical rules pending clinician review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• No claim of clinical validation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120640" cy="3657600"/>
          </a:xfrm>
          <a:prstGeom prst="roundRect">
            <a:avLst/>
          </a:prstGeom>
          <a:solidFill>
            <a:srgbClr val="182438"/>
          </a:solidFill>
          <a:ln>
            <a:solidFill>
              <a:srgbClr val="30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783080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19B7A5"/>
                </a:solidFill>
                <a:latin typeface="Aptos"/>
              </a:defRPr>
            </a:pPr>
            <a:r>
              <a:t>ROADMAP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176272"/>
            <a:ext cx="4800600" cy="3035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• Reconcile evaluation implementation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• Validate on consented, de-identified cohort data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• Conduct clinician-led rule review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• Add real wearable / FHIR connectors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• Assess privacy, security and regulatory requirements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9B7A5"/>
                </a:solidFill>
                <a:latin typeface="Aptos"/>
              </a:defRPr>
            </a:pPr>
            <a:r>
              <a:t>09 |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Summary &amp; submission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45720"/>
          </a:xfrm>
          <a:prstGeom prst="rect">
            <a:avLst/>
          </a:prstGeom>
          <a:solidFill>
            <a:srgbClr val="19B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700" b="0">
                <a:solidFill>
                  <a:srgbClr val="B1BECD"/>
                </a:solidFill>
                <a:latin typeface="Aptos"/>
              </a:defRPr>
            </a:pPr>
            <a:r>
              <a:t>GLUCOTWIN • SYNTHETIC DATA ONLY • NOT FOR CLINICAL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B1BECD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GlucoTwin explores how longitudinal clinical context and dynamic sensor data can be combined into a reviewable patient-specific digital-twin workflow.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971800"/>
            <a:ext cx="4937760" cy="1508760"/>
          </a:xfrm>
          <a:prstGeom prst="roundRect">
            <a:avLst/>
          </a:prstGeom>
          <a:solidFill>
            <a:srgbClr val="182438"/>
          </a:solidFill>
          <a:ln>
            <a:solidFill>
              <a:srgbClr val="30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3108960"/>
            <a:ext cx="4617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69D6D0"/>
                </a:solidFill>
                <a:latin typeface="Aptos"/>
              </a:defRPr>
            </a:pPr>
            <a:r>
              <a:t>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502152"/>
            <a:ext cx="4617720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[ADD OFFICIAL TEAM NAME]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Ayush Gupta — Team leader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[ADD COLLEGE / INCUBATOR]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971800"/>
            <a:ext cx="4937760" cy="1508760"/>
          </a:xfrm>
          <a:prstGeom prst="roundRect">
            <a:avLst/>
          </a:prstGeom>
          <a:solidFill>
            <a:srgbClr val="182438"/>
          </a:solidFill>
          <a:ln>
            <a:solidFill>
              <a:srgbClr val="30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3108960"/>
            <a:ext cx="4617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19B7A5"/>
                </a:solidFill>
                <a:latin typeface="Aptos"/>
              </a:defRPr>
            </a:pPr>
            <a:r>
              <a:t>REPOSITORY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3502152"/>
            <a:ext cx="4617720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https://github.com/ayush2459/medai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Verify public visibility and committed documents.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0292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69D6D0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623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F0B44D"/>
                </a:solidFill>
                <a:latin typeface="Aptos"/>
              </a:defRPr>
            </a:pPr>
            <a:r>
              <a:t>Synthetic data only • Not for clinical use • Clinicians retain decision authority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