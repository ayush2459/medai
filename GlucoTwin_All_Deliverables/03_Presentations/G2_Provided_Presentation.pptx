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31520"/>
            <a:ext cx="1508760" cy="292608"/>
          </a:xfrm>
          <a:prstGeom prst="round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86384"/>
            <a:ext cx="1371600" cy="13716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6492240" cy="65836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GlucoTwin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6858000" cy="47548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2700" b="1">
                <a:solidFill>
                  <a:srgbClr val="A9DCE0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99232"/>
            <a:ext cx="5943600" cy="7315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600" b="0">
                <a:solidFill>
                  <a:srgbClr val="E4ECF5"/>
                </a:solidFill>
                <a:latin typeface="Aptos"/>
              </a:defRPr>
            </a:pPr>
            <a:r>
              <a:t>A multimodal pipeline for glucose-risk prediction in Type 2 Diabetes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977639"/>
            <a:ext cx="5669280" cy="18288"/>
          </a:xfrm>
          <a:prstGeom prst="rect">
            <a:avLst/>
          </a:prstGeom>
          <a:solidFill>
            <a:srgbClr val="41667F"/>
          </a:solidFill>
          <a:ln w="10160">
            <a:solidFill>
              <a:srgbClr val="416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79392"/>
            <a:ext cx="5669280" cy="77724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300" b="0">
                <a:solidFill>
                  <a:srgbClr val="D2DFEA"/>
                </a:solidFill>
                <a:latin typeface="Aptos"/>
              </a:defRPr>
            </a:pPr>
            <a:r>
              <a:t>Patient data → feature engineering → ML inference → human-reviewed decision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4572000" cy="2286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8CA4B8"/>
                </a:solidFill>
                <a:latin typeface="Aptos"/>
              </a:defRPr>
            </a:pPr>
            <a:r>
              <a:t>SUBMISSION EDITION • 20 OCTOBER 2026</a:t>
            </a:r>
          </a:p>
        </p:txBody>
      </p:sp>
      <p:sp>
        <p:nvSpPr>
          <p:cNvPr id="10" name="Oval 9"/>
          <p:cNvSpPr/>
          <p:nvPr/>
        </p:nvSpPr>
        <p:spPr>
          <a:xfrm>
            <a:off x="8595360" y="1005840"/>
            <a:ext cx="640080" cy="640080"/>
          </a:xfrm>
          <a:prstGeom prst="ellipse">
            <a:avLst/>
          </a:prstGeom>
          <a:solidFill>
            <a:srgbClr val="23A6A1"/>
          </a:solidFill>
          <a:ln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0" y="2057400"/>
            <a:ext cx="457200" cy="457200"/>
          </a:xfrm>
          <a:prstGeom prst="ellipse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79" y="2743200"/>
            <a:ext cx="384048" cy="384048"/>
          </a:xfrm>
          <a:prstGeom prst="ellipse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69880" y="3657600"/>
            <a:ext cx="658368" cy="658368"/>
          </a:xfrm>
          <a:prstGeom prst="ellipse">
            <a:avLst/>
          </a:prstGeom>
          <a:solidFill>
            <a:srgbClr val="5BC0BE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23960" y="4709160"/>
            <a:ext cx="502920" cy="502920"/>
          </a:xfrm>
          <a:prstGeom prst="ellipse">
            <a:avLst/>
          </a:prstGeom>
          <a:solidFill>
            <a:srgbClr val="247BA0"/>
          </a:solidFill>
          <a:ln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18520" y="5166360"/>
            <a:ext cx="310896" cy="310896"/>
          </a:xfrm>
          <a:prstGeom prst="ellipse">
            <a:avLst/>
          </a:prstGeom>
          <a:solidFill>
            <a:srgbClr val="23A6A1"/>
          </a:solidFill>
          <a:ln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961120" y="1463040"/>
            <a:ext cx="1051560" cy="73152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9957815" y="213055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8138160" y="1554480"/>
            <a:ext cx="594360" cy="132588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8083296" y="281635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2468880"/>
            <a:ext cx="548640" cy="132588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10643615" y="373075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183879" y="3108960"/>
            <a:ext cx="868681" cy="169164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8997696" y="473659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9189720" y="4297680"/>
            <a:ext cx="1508760" cy="64008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9134856" y="487375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9326880" y="4983480"/>
            <a:ext cx="1737360" cy="36576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11009376" y="5285231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A6A1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389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A clear path from data to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607386"/>
                </a:solidFill>
                <a:latin typeface="Aptos"/>
              </a:defRPr>
            </a:pPr>
            <a:r>
              <a:t>Clinical context and time-series signals feed risk estimates for human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65392"/>
            <a:ext cx="914400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54864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74519"/>
            <a:ext cx="2084831" cy="1243584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EA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993392"/>
            <a:ext cx="438912" cy="237744"/>
          </a:xfrm>
          <a:prstGeom prst="roundRect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029968"/>
            <a:ext cx="420624" cy="128016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59152"/>
            <a:ext cx="18288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47BA0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651760"/>
            <a:ext cx="182880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EHR • CGM • Wearables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2487168"/>
            <a:ext cx="173736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2761488" y="2423160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62072" y="1874519"/>
            <a:ext cx="2084831" cy="1243584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F0E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71800" y="1993392"/>
            <a:ext cx="438912" cy="237744"/>
          </a:xfrm>
          <a:prstGeom prst="roundRect">
            <a:avLst/>
          </a:prstGeom>
          <a:solidFill>
            <a:srgbClr val="6D5BD0"/>
          </a:solidFill>
          <a:ln w="1016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2029968"/>
            <a:ext cx="420624" cy="128016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0088" y="2359152"/>
            <a:ext cx="18288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D5BD0"/>
                </a:solidFill>
                <a:latin typeface="Aptos"/>
              </a:defRPr>
            </a:pPr>
            <a:r>
              <a:t>PREP &amp;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2651760"/>
            <a:ext cx="182880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Quality • alignment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74336" y="2487168"/>
            <a:ext cx="173736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5093208" y="2423160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93792" y="1874519"/>
            <a:ext cx="2084831" cy="1243584"/>
          </a:xfrm>
          <a:prstGeom prst="roundRect">
            <a:avLst/>
          </a:prstGeom>
          <a:solidFill>
            <a:srgbClr val="EAF5EF"/>
          </a:solidFill>
          <a:ln w="1016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03520" y="1993392"/>
            <a:ext cx="438912" cy="237744"/>
          </a:xfrm>
          <a:prstGeom prst="roundRect">
            <a:avLst/>
          </a:prstGeom>
          <a:solidFill>
            <a:srgbClr val="3A8D73"/>
          </a:solidFill>
          <a:ln w="10160">
            <a:solidFill>
              <a:srgbClr val="3A8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2029968"/>
            <a:ext cx="420624" cy="128016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7" y="2359152"/>
            <a:ext cx="18288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3A8D73"/>
                </a:solidFill>
                <a:latin typeface="Aptos"/>
              </a:defRPr>
            </a:pPr>
            <a:r>
              <a:t>ML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7" y="2651760"/>
            <a:ext cx="182880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LightGBM model family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06056" y="2487168"/>
            <a:ext cx="173736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evron 28"/>
          <p:cNvSpPr/>
          <p:nvPr/>
        </p:nvSpPr>
        <p:spPr>
          <a:xfrm>
            <a:off x="7424927" y="2423160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25511" y="1874519"/>
            <a:ext cx="2084831" cy="1243584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35239" y="1993392"/>
            <a:ext cx="438912" cy="237744"/>
          </a:xfrm>
          <a:prstGeom prst="roundRect">
            <a:avLst/>
          </a:prstGeom>
          <a:solidFill>
            <a:srgbClr val="D88A28"/>
          </a:solidFill>
          <a:ln w="10160">
            <a:solidFill>
              <a:srgbClr val="D8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44383" y="2029968"/>
            <a:ext cx="420624" cy="128016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7" y="2359152"/>
            <a:ext cx="18288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D88A28"/>
                </a:solidFill>
                <a:latin typeface="Aptos"/>
              </a:defRPr>
            </a:pPr>
            <a:r>
              <a:t>RISK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7" y="2651760"/>
            <a:ext cx="182880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Hyper / hypo estimates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37776" y="2487168"/>
            <a:ext cx="173735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9756647" y="2423160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57232" y="1874519"/>
            <a:ext cx="2084831" cy="1243584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E8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66959" y="1993392"/>
            <a:ext cx="438912" cy="237744"/>
          </a:xfrm>
          <a:prstGeom prst="round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76104" y="2029968"/>
            <a:ext cx="420624" cy="128016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85248" y="2359152"/>
            <a:ext cx="18288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A6A1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248" y="2651760"/>
            <a:ext cx="182880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Web UI • API •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657600"/>
            <a:ext cx="33832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" y="3657600"/>
            <a:ext cx="73152" cy="1554480"/>
          </a:xfrm>
          <a:prstGeom prst="rect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886200"/>
            <a:ext cx="2926080" cy="20116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47BA0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4251960"/>
            <a:ext cx="2834640" cy="7315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Patient records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Glucose readings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Activity / sleep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43983" y="3657600"/>
            <a:ext cx="33832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43983" y="3657600"/>
            <a:ext cx="73152" cy="1554480"/>
          </a:xfrm>
          <a:prstGeom prst="rect">
            <a:avLst/>
          </a:prstGeom>
          <a:solidFill>
            <a:srgbClr val="6D5BD0"/>
          </a:solidFill>
          <a:ln w="1016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5151" y="3886200"/>
            <a:ext cx="2926080" cy="20116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D5BD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5151" y="4251960"/>
            <a:ext cx="2834640" cy="7315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Data quality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Time alignment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Feature construction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66175" y="3657600"/>
            <a:ext cx="3383280" cy="1554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66175" y="3657600"/>
            <a:ext cx="73152" cy="1554480"/>
          </a:xfrm>
          <a:prstGeom prst="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67344" y="3886200"/>
            <a:ext cx="2926080" cy="20116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A6A1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7344" y="4251960"/>
            <a:ext cx="2834640" cy="7315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Risk estimates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Supporting context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B2F43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" y="5532120"/>
            <a:ext cx="10927080" cy="530352"/>
          </a:xfrm>
          <a:prstGeom prst="roundRect">
            <a:avLst/>
          </a:prstGeom>
          <a:solidFill>
            <a:srgbClr val="10243A"/>
          </a:solidFill>
          <a:ln w="1016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687568"/>
            <a:ext cx="105156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Decision support only—not a diagnosis, prescription, or substitute for clinician judgement.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A6A1"/>
                </a:solidFill>
                <a:latin typeface="Aptos"/>
              </a:defRPr>
            </a:pPr>
            <a:r>
              <a:t>02 /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389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Three data streams become one model-ready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607386"/>
                </a:solidFill>
                <a:latin typeface="Aptos"/>
              </a:defRPr>
            </a:pPr>
            <a:r>
              <a:t>The streams are validated and synchronized before feature construction.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65392"/>
            <a:ext cx="914400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54864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039112" cy="1508760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39112" cy="347472"/>
          </a:xfrm>
          <a:prstGeom prst="roundRect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1856231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EHR / 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12848"/>
            <a:ext cx="1801368" cy="978407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Demographics &amp; diagnoses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Medications and lab results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Comorbidities /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79" y="1737360"/>
            <a:ext cx="2039112" cy="150876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26079" y="1737360"/>
            <a:ext cx="2039112" cy="347472"/>
          </a:xfrm>
          <a:prstGeom prst="round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810512"/>
            <a:ext cx="1856231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CGM TIME 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2212848"/>
            <a:ext cx="1801368" cy="978407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Glucose readings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Trends and variability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Data quality flags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737360"/>
            <a:ext cx="2039112" cy="1508760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1737360"/>
            <a:ext cx="2039112" cy="347472"/>
          </a:xfrm>
          <a:prstGeom prst="roundRect">
            <a:avLst/>
          </a:prstGeom>
          <a:solidFill>
            <a:srgbClr val="6D5BD0"/>
          </a:solidFill>
          <a:ln w="1016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1810512"/>
            <a:ext cx="1856231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WEARABLE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212848"/>
            <a:ext cx="1801368" cy="978407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Activity and heart rate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Sleep duration / patterns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Other available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657600"/>
            <a:ext cx="3703320" cy="594360"/>
          </a:xfrm>
          <a:prstGeom prst="roundRect">
            <a:avLst/>
          </a:prstGeom>
          <a:solidFill>
            <a:srgbClr val="10243A"/>
          </a:solidFill>
          <a:ln w="1016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40480"/>
            <a:ext cx="34290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VALIDATION &amp; SYNCHRONIZATION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00200" y="3337560"/>
            <a:ext cx="4480560" cy="27432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6025896" y="354787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931920" y="3337560"/>
            <a:ext cx="2148840" cy="27432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6025896" y="354787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6080760" y="3337560"/>
            <a:ext cx="182880" cy="27432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evron 27"/>
          <p:cNvSpPr/>
          <p:nvPr/>
        </p:nvSpPr>
        <p:spPr>
          <a:xfrm>
            <a:off x="6025896" y="354787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080760" y="4279392"/>
            <a:ext cx="0" cy="246888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>
            <a:off x="6025896" y="446227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457200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736592"/>
            <a:ext cx="301752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47BA0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5047488"/>
            <a:ext cx="301752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50" b="0">
                <a:solidFill>
                  <a:srgbClr val="1B2F43"/>
                </a:solidFill>
                <a:latin typeface="Aptos"/>
              </a:defRPr>
            </a:pPr>
            <a:r>
              <a:t>Missing values • outliers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57200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4" y="4736592"/>
            <a:ext cx="301752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D5BD0"/>
                </a:solidFill>
                <a:latin typeface="Aptos"/>
              </a:defRPr>
            </a:pPr>
            <a:r>
              <a:t>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2584" y="5047488"/>
            <a:ext cx="301752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50" b="0">
                <a:solidFill>
                  <a:srgbClr val="1B2F43"/>
                </a:solidFill>
                <a:latin typeface="Aptos"/>
              </a:defRPr>
            </a:pPr>
            <a:r>
              <a:t>Timestamps • time windows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4572000"/>
            <a:ext cx="33832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4736592"/>
            <a:ext cx="301752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A6A1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5047488"/>
            <a:ext cx="3017520" cy="27432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50" b="0">
                <a:solidFill>
                  <a:srgbClr val="1B2F43"/>
                </a:solidFill>
                <a:latin typeface="Aptos"/>
              </a:defRPr>
            </a:pPr>
            <a:r>
              <a:t>CGM • wearable • EHR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70448"/>
            <a:ext cx="10789920" cy="20116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850" b="0">
                <a:solidFill>
                  <a:srgbClr val="607386"/>
                </a:solidFill>
                <a:latin typeface="Aptos"/>
              </a:defRPr>
            </a:pPr>
            <a:r>
              <a:t>Exact fields and time windows depend on the records available in the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A6A1"/>
                </a:solidFill>
                <a:latin typeface="Aptos"/>
              </a:defRPr>
            </a:pPr>
            <a:r>
              <a:t>03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389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Train, evaluate, and compare before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607386"/>
                </a:solidFill>
                <a:latin typeface="Aptos"/>
              </a:defRPr>
            </a:pPr>
            <a:r>
              <a:t>LightGBM is the documented model family; evaluation design is as important as the algorithm.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65392"/>
            <a:ext cx="914400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54864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3246120" cy="3566160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3246120" cy="347472"/>
          </a:xfrm>
          <a:prstGeom prst="roundRect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3063239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MODEL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12848"/>
            <a:ext cx="3008376" cy="30358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Feature groups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CGM-derived features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Wearable-derived features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EHR / clinical features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Data-quality indicators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Use patient separation and preserve time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737360"/>
            <a:ext cx="3017520" cy="3566160"/>
          </a:xfrm>
          <a:prstGeom prst="roundRect">
            <a:avLst/>
          </a:prstGeom>
          <a:solidFill>
            <a:srgbClr val="EAF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1737360"/>
            <a:ext cx="3017520" cy="347472"/>
          </a:xfrm>
          <a:prstGeom prst="roundRect">
            <a:avLst/>
          </a:prstGeom>
          <a:solidFill>
            <a:srgbClr val="3A8D73"/>
          </a:solidFill>
          <a:ln w="10160">
            <a:solidFill>
              <a:srgbClr val="3A8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810512"/>
            <a:ext cx="2834639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MODEL FAMILY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212848"/>
            <a:ext cx="2779776" cy="30358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LightGBM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Separate prediction tasks: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Hyperglycemia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Hypoglycemia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Version model artifacts and record the evaluation setup.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37360"/>
            <a:ext cx="3474720" cy="3566160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1737360"/>
            <a:ext cx="3474720" cy="347472"/>
          </a:xfrm>
          <a:prstGeom prst="roundRect">
            <a:avLst/>
          </a:prstGeom>
          <a:solidFill>
            <a:srgbClr val="6D5BD0"/>
          </a:solidFill>
          <a:ln w="1016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3" y="1810512"/>
            <a:ext cx="3291839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212848"/>
            <a:ext cx="3236976" cy="30358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Measure multiple dimensions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AUROC and AUPRC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Brier score / calibration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Sensitivity at a defined threshold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Lead-time analysis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Baselines and ablations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3474720"/>
            <a:ext cx="484632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4315968" y="341071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543800" y="3474720"/>
            <a:ext cx="466344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7955279" y="3410712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" y="5532120"/>
            <a:ext cx="10927080" cy="530352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EE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87568"/>
            <a:ext cx="105156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8A5713"/>
                </a:solidFill>
                <a:latin typeface="Aptos"/>
              </a:defRPr>
            </a:pPr>
            <a:r>
              <a:t>Report metrics only after verifying labels, split strategy, prediction horizon, and consistency across evaluation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A6A1"/>
                </a:solidFill>
                <a:latin typeface="Aptos"/>
              </a:defRPr>
            </a:pPr>
            <a:r>
              <a:t>04 /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389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Risk estimates are surfaced with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607386"/>
                </a:solidFill>
                <a:latin typeface="Aptos"/>
              </a:defRPr>
            </a:pPr>
            <a:r>
              <a:t>The application presents model outputs for interpretation, not autonomous clinical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65392"/>
            <a:ext cx="914400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54864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2395728" cy="1143000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EA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011680"/>
            <a:ext cx="2176272" cy="23774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247BA0"/>
                </a:solidFill>
                <a:latin typeface="Aptos"/>
              </a:defRPr>
            </a:pPr>
            <a:r>
              <a:t>LATEST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395728"/>
            <a:ext cx="2139696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Validated patient features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9232" y="2404872"/>
            <a:ext cx="402336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3346704" y="2340864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828800"/>
            <a:ext cx="2395728" cy="1143000"/>
          </a:xfrm>
          <a:prstGeom prst="roundRect">
            <a:avLst/>
          </a:prstGeom>
          <a:solidFill>
            <a:srgbClr val="EAF5EF"/>
          </a:solidFill>
          <a:ln w="1016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011680"/>
            <a:ext cx="2176272" cy="23774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3A8D73"/>
                </a:solidFill>
                <a:latin typeface="Aptos"/>
              </a:defRPr>
            </a:pPr>
            <a:r>
              <a:t>PREDICTION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395728"/>
            <a:ext cx="2139696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Versioned model inference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07024" y="2404872"/>
            <a:ext cx="402336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6254496" y="2340864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1828800"/>
            <a:ext cx="2395728" cy="114300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FFF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2176272" cy="23774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D88A28"/>
                </a:solidFill>
                <a:latin typeface="Aptos"/>
              </a:defRPr>
            </a:pPr>
            <a:r>
              <a:t>RISK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395728"/>
            <a:ext cx="2139696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Hyper / hypo estimates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14816" y="2404872"/>
            <a:ext cx="402336" cy="0"/>
          </a:xfrm>
          <a:prstGeom prst="line">
            <a:avLst/>
          </a:prstGeom>
          <a:ln w="2159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9162288" y="2340864"/>
            <a:ext cx="109728" cy="128016"/>
          </a:xfrm>
          <a:prstGeom prst="chevron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0304" y="1828800"/>
            <a:ext cx="2395728" cy="114300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E8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2011680"/>
            <a:ext cx="2176272" cy="23774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23A6A1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95728"/>
            <a:ext cx="2139696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Patient-specific 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520440"/>
            <a:ext cx="5257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767328"/>
            <a:ext cx="4754880" cy="2286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3A6A1"/>
                </a:solidFill>
                <a:latin typeface="Aptos"/>
              </a:defRPr>
            </a:pPr>
            <a:r>
              <a:t>CLINICIAN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187952"/>
            <a:ext cx="4709160" cy="6400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1B2F43"/>
                </a:solidFill>
                <a:latin typeface="Aptos"/>
              </a:defRPr>
            </a:pPr>
            <a:r>
              <a:t>Review estimates alongside history, current observations, data quality, and local clinical protocols.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520440"/>
            <a:ext cx="525780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67328"/>
            <a:ext cx="4754880" cy="2286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6D5BD0"/>
                </a:solidFill>
                <a:latin typeface="Aptos"/>
              </a:defRPr>
            </a:pPr>
            <a:r>
              <a:t>EXPLANATION &amp;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187952"/>
            <a:ext cx="4709160" cy="6400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1B2F43"/>
                </a:solidFill>
                <a:latin typeface="Aptos"/>
              </a:defRPr>
            </a:pPr>
            <a:r>
              <a:t>Show supporting features only where available. Do not imply causal certainty or guaranteed outcomes.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5486400"/>
            <a:ext cx="10899648" cy="502920"/>
          </a:xfrm>
          <a:prstGeom prst="roundRect">
            <a:avLst/>
          </a:prstGeom>
          <a:solidFill>
            <a:srgbClr val="10243A"/>
          </a:solidFill>
          <a:ln w="1016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641848"/>
            <a:ext cx="105156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Human-in-the-loop by design • No autonomous diagnosis or treatment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00" b="1">
                <a:solidFill>
                  <a:srgbClr val="23A6A1"/>
                </a:solidFill>
                <a:latin typeface="Aptos"/>
              </a:defRPr>
            </a:pPr>
            <a:r>
              <a:t>05 / PLATFORM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4389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Operate with privacy, monitoring, and clear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607386"/>
                </a:solidFill>
                <a:latin typeface="Aptos"/>
              </a:defRPr>
            </a:pPr>
            <a:r>
              <a:t>Operational controls belong alongside the modelling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DCE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565392"/>
            <a:ext cx="914400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548640" cy="146304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5212080" cy="1444752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5212080" cy="347472"/>
          </a:xfrm>
          <a:prstGeom prst="roundRect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50292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12848"/>
            <a:ext cx="4974336" cy="9144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React + Vite frontend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FastAPI REST endpoints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Patient-specific web 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737360"/>
            <a:ext cx="5212080" cy="1444752"/>
          </a:xfrm>
          <a:prstGeom prst="roundRect">
            <a:avLst/>
          </a:prstGeom>
          <a:solidFill>
            <a:srgbClr val="EAF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737360"/>
            <a:ext cx="5212080" cy="347472"/>
          </a:xfrm>
          <a:prstGeom prst="roundRect">
            <a:avLst/>
          </a:prstGeom>
          <a:solidFill>
            <a:srgbClr val="3A8D73"/>
          </a:solidFill>
          <a:ln w="10160">
            <a:solidFill>
              <a:srgbClr val="3A8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810512"/>
            <a:ext cx="50292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DATA &amp; MODEL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212848"/>
            <a:ext cx="4974336" cy="9144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PostgreSQL data store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Python / LightGBM inference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Optional Ollama / LLM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39"/>
            <a:ext cx="5212080" cy="1444752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5212080" cy="347472"/>
          </a:xfrm>
          <a:prstGeom prst="roundRect">
            <a:avLst/>
          </a:prstGeom>
          <a:solidFill>
            <a:srgbClr val="6D5BD0"/>
          </a:solidFill>
          <a:ln w="1016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93591"/>
            <a:ext cx="50292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SECURITY &amp; 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95927"/>
            <a:ext cx="4974336" cy="9144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Least-privilege access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Protect identifiable health data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Audit relevant access / changes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520439"/>
            <a:ext cx="5212080" cy="1444752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3520439"/>
            <a:ext cx="5212080" cy="347472"/>
          </a:xfrm>
          <a:prstGeom prst="roundRect">
            <a:avLst/>
          </a:prstGeom>
          <a:solidFill>
            <a:srgbClr val="D88A28"/>
          </a:solidFill>
          <a:ln w="10160">
            <a:solidFill>
              <a:srgbClr val="D8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593591"/>
            <a:ext cx="5029200" cy="210312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1">
                <a:solidFill>
                  <a:srgbClr val="FFFFFF"/>
                </a:solidFill>
                <a:latin typeface="Aptos"/>
              </a:defRPr>
            </a:pPr>
            <a:r>
              <a:t>MONITORING &amp;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995927"/>
            <a:ext cx="4974336" cy="91440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Track data / model quality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Re-evaluate before updates</a:t>
            </a:r>
          </a:p>
          <a:p>
            <a:pPr algn="l">
              <a:spcAft>
                <a:spcPts val="300"/>
              </a:spcAft>
              <a:defRPr sz="919" b="0">
                <a:solidFill>
                  <a:srgbClr val="1B2F43"/>
                </a:solidFill>
                <a:latin typeface="Aptos"/>
              </a:defRPr>
            </a:pPr>
            <a:r>
              <a:t>• Clinical and safety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577840"/>
            <a:ext cx="10927080" cy="502920"/>
          </a:xfrm>
          <a:prstGeom prst="roundRect">
            <a:avLst/>
          </a:prstGeom>
          <a:solidFill>
            <a:srgbClr val="FCEEEE"/>
          </a:solidFill>
          <a:ln w="10160">
            <a:solidFill>
              <a:srgbClr val="F1D3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15000"/>
            <a:ext cx="10515600" cy="182880"/>
          </a:xfrm>
          <a:prstGeom prst="rect">
            <a:avLst/>
          </a:prstGeom>
          <a:noFill/>
        </p:spPr>
        <p:txBody>
          <a:bodyPr wrap="square" lIns="64008" rIns="54864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B44242"/>
                </a:solidFill>
                <a:latin typeface="Aptos"/>
              </a:defRPr>
            </a:pPr>
            <a:r>
              <a:t>Healthcare use requires validation, privacy safeguards, documented limitations, and qualified clinical oversight.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850" b="1">
                <a:solidFill>
                  <a:srgbClr val="23A6A1"/>
                </a:solidFill>
                <a:latin typeface="Aptos"/>
              </a:defRPr>
            </a:pPr>
            <a:r>
              <a:t>06 / COMPONENT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0243A"/>
                </a:solidFill>
                <a:latin typeface="Aptos"/>
              </a:defRPr>
            </a:pPr>
            <a:r>
              <a:t>How the application components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07386"/>
                </a:solidFill>
                <a:latin typeface="Aptos"/>
              </a:defRPr>
            </a:pPr>
            <a:r>
              <a:t>Logical component view of the prototype stack; deployment boundaries may vary.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8229600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72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16459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286000" cy="1874519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201168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247BA0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7"/>
            <a:ext cx="2011680" cy="128016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React + Vite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Patient views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Clinical guidance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74519"/>
            <a:ext cx="2560320" cy="1874519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039112"/>
            <a:ext cx="228600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23A6A1"/>
                </a:solidFill>
                <a:latin typeface="Aptos"/>
              </a:defRPr>
            </a:pPr>
            <a: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395727"/>
            <a:ext cx="2286000" cy="128016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FastAPI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Routing / validation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468880" cy="1234440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764792"/>
            <a:ext cx="219456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6D5BD0"/>
                </a:solidFill>
                <a:latin typeface="Aptos"/>
              </a:defRPr>
            </a:pPr>
            <a:r>
              <a:t>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21408"/>
            <a:ext cx="2194560" cy="6400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PostgreSQL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Patient / event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246120"/>
            <a:ext cx="2468880" cy="1234440"/>
          </a:xfrm>
          <a:prstGeom prst="roundRect">
            <a:avLst/>
          </a:prstGeom>
          <a:solidFill>
            <a:srgbClr val="EAF5E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3410712"/>
            <a:ext cx="219456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3A8D73"/>
                </a:solidFill>
                <a:latin typeface="Aptos"/>
              </a:defRPr>
            </a:pPr>
            <a:r>
              <a:t>ML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767328"/>
            <a:ext cx="2194560" cy="6400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Python + LightGBM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Risk estimate service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2788920"/>
            <a:ext cx="1600200" cy="0"/>
          </a:xfrm>
          <a:prstGeom prst="line">
            <a:avLst/>
          </a:prstGeom>
          <a:ln w="1905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269480" y="2240280"/>
            <a:ext cx="1600200" cy="182880"/>
          </a:xfrm>
          <a:prstGeom prst="line">
            <a:avLst/>
          </a:prstGeom>
          <a:ln w="1905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69480" y="3108960"/>
            <a:ext cx="1600200" cy="640079"/>
          </a:xfrm>
          <a:prstGeom prst="line">
            <a:avLst/>
          </a:prstGeom>
          <a:ln w="19050">
            <a:solidFill>
              <a:srgbClr val="247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26280" y="4892040"/>
            <a:ext cx="2788920" cy="82296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5074920"/>
            <a:ext cx="2423160" cy="20116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950" b="1">
                <a:solidFill>
                  <a:srgbClr val="D88A28"/>
                </a:solidFill>
                <a:latin typeface="Aptos"/>
              </a:defRPr>
            </a:pPr>
            <a:r>
              <a:t>OPTIONAL GUIDANCE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349240"/>
            <a:ext cx="2423160" cy="1828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869" b="0">
                <a:solidFill>
                  <a:srgbClr val="1B2F43"/>
                </a:solidFill>
                <a:latin typeface="Aptos"/>
              </a:defRPr>
            </a:pPr>
            <a:r>
              <a:t>Ollama / LLM (if configured)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97880" y="3794760"/>
            <a:ext cx="0" cy="1005840"/>
          </a:xfrm>
          <a:prstGeom prst="line">
            <a:avLst/>
          </a:prstGeom>
          <a:ln w="19050">
            <a:solidFill>
              <a:srgbClr val="6D5B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5989320"/>
            <a:ext cx="1078992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869" b="0">
                <a:solidFill>
                  <a:srgbClr val="607386"/>
                </a:solidFill>
                <a:latin typeface="Aptos"/>
              </a:defRPr>
            </a:pPr>
            <a:r>
              <a:t>Keep credentials server-side; enforce authentication, authorization, input validation, and auditability before real-patient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850" b="1">
                <a:solidFill>
                  <a:srgbClr val="23A6A1"/>
                </a:solidFill>
                <a:latin typeface="Aptos"/>
              </a:defRPr>
            </a:pPr>
            <a:r>
              <a:t>07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0243A"/>
                </a:solidFill>
                <a:latin typeface="Aptos"/>
              </a:defRPr>
            </a:pPr>
            <a:r>
              <a:t>Evaluation should be reproducible and transparent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07386"/>
                </a:solidFill>
                <a:latin typeface="Aptos"/>
              </a:defRPr>
            </a:pPr>
            <a:r>
              <a:t>Report model performance with baselines, clear test splits, and metrics appropriate for imbalanced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8229600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72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16459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5212080" cy="1234440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475488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247BA0"/>
                </a:solidFill>
                <a:latin typeface="Aptos"/>
              </a:defRPr>
            </a:pPr>
            <a:r>
              <a:t>DISCRIMINATION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21991"/>
            <a:ext cx="4754880" cy="24688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AUROC • AUPRC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60320"/>
            <a:ext cx="4754880" cy="32918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Can the model rank higher-risk cases above lower-risk cases?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783080"/>
            <a:ext cx="5212080" cy="1234440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75488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6D5BD0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21991"/>
            <a:ext cx="4754880" cy="24688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Brier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60320"/>
            <a:ext cx="4754880" cy="32918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Do estimated probabilities align with observed outcomes?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91839"/>
            <a:ext cx="5212080" cy="123444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56432"/>
            <a:ext cx="475488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23A6A1"/>
                </a:solidFill>
                <a:latin typeface="Aptos"/>
              </a:defRPr>
            </a:pPr>
            <a:r>
              <a:t>OPERATING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730752"/>
            <a:ext cx="4754880" cy="24688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Sensitivity / specificity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069079"/>
            <a:ext cx="4754880" cy="32918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What trade-off appears at the chosen threshold?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291839"/>
            <a:ext cx="5212080" cy="123444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56432"/>
            <a:ext cx="475488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50" b="1">
                <a:solidFill>
                  <a:srgbClr val="D88A28"/>
                </a:solidFill>
                <a:latin typeface="Aptos"/>
              </a:defRPr>
            </a:pPr>
            <a:r>
              <a:t>TIMING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730752"/>
            <a:ext cx="4754880" cy="24688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Lead-time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79"/>
            <a:ext cx="4754880" cy="32918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1B2F43"/>
                </a:solidFill>
                <a:latin typeface="Aptos"/>
              </a:defRPr>
            </a:pPr>
            <a:r>
              <a:t>How early are events flagged under the defined horizon?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074920"/>
            <a:ext cx="1092708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257800"/>
            <a:ext cx="10424160" cy="20116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A6A1"/>
                </a:solidFill>
                <a:latin typeface="Aptos"/>
              </a:defRPr>
            </a:pPr>
            <a:r>
              <a:t>REPRODUCIBILITY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559552"/>
            <a:ext cx="10378440" cy="24688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930" b="0">
                <a:solidFill>
                  <a:srgbClr val="1B2F43"/>
                </a:solidFill>
                <a:latin typeface="Aptos"/>
              </a:defRPr>
            </a:pPr>
            <a:r>
              <a:t>Fixed seed • patient-level separation • chronological holdout • label / horizon definition • baseline comparison • versioned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26480"/>
            <a:ext cx="10789920" cy="16459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850" b="1">
                <a:solidFill>
                  <a:srgbClr val="D95D5D"/>
                </a:solidFill>
                <a:latin typeface="Aptos"/>
              </a:defRPr>
            </a:pPr>
            <a:r>
              <a:t>Do not combine metrics from different evaluation runs or present synthetic results as clinical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850" b="1">
                <a:solidFill>
                  <a:srgbClr val="23A6A1"/>
                </a:solidFill>
                <a:latin typeface="Aptos"/>
              </a:defRPr>
            </a:pPr>
            <a:r>
              <a:t>08 / SAFETY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0243A"/>
                </a:solidFill>
                <a:latin typeface="Aptos"/>
              </a:defRPr>
            </a:pPr>
            <a:r>
              <a:t>Clear boundaries are part of 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07386"/>
                </a:solidFill>
                <a:latin typeface="Aptos"/>
              </a:defRPr>
            </a:pPr>
            <a:r>
              <a:t>Healthcare AI must communicate uncertainty and preserve qualified human oversight.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8229600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72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16459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5212080" cy="1143000"/>
          </a:xfrm>
          <a:prstGeom prst="roundRect">
            <a:avLst/>
          </a:prstGeom>
          <a:solidFill>
            <a:srgbClr val="EAF4FA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470916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47BA0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86000"/>
            <a:ext cx="466344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Missing, delayed, or inaccurate data can distort risk estimates.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83080"/>
            <a:ext cx="5212080" cy="1143000"/>
          </a:xfrm>
          <a:prstGeom prst="roundRect">
            <a:avLst/>
          </a:prstGeom>
          <a:solidFill>
            <a:srgbClr val="F0EDFC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70916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6D5BD0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66344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Performance can change across populations, devices, and care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00400"/>
            <a:ext cx="5212080" cy="114300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364992"/>
            <a:ext cx="470916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23A6A1"/>
                </a:solidFill>
                <a:latin typeface="Aptos"/>
              </a:defRPr>
            </a:pPr>
            <a:r>
              <a:t>CLINICAL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703320"/>
            <a:ext cx="466344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A qualified clinician must interpret outputs in patient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200400"/>
            <a:ext cx="5212080" cy="1143000"/>
          </a:xfrm>
          <a:prstGeom prst="roundRect">
            <a:avLst/>
          </a:prstGeom>
          <a:solidFill>
            <a:srgbClr val="FFF4E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64992"/>
            <a:ext cx="4709160" cy="2103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D88A28"/>
                </a:solidFill>
                <a:latin typeface="Aptos"/>
              </a:defRPr>
            </a:pPr>
            <a:r>
              <a:t>PRIVACY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466344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Protect health data with access controls, secure configuration, and auditing.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983480"/>
            <a:ext cx="10927080" cy="960120"/>
          </a:xfrm>
          <a:prstGeom prst="roundRect">
            <a:avLst/>
          </a:prstGeom>
          <a:solidFill>
            <a:srgbClr val="10243A"/>
          </a:solidFill>
          <a:ln w="1016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93792"/>
            <a:ext cx="1042416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DE1D7"/>
                </a:solidFill>
                <a:latin typeface="Aptos"/>
              </a:defRPr>
            </a:pPr>
            <a:r>
              <a:t>INTENDED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32720" cy="228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Prototype decision support only. Not a standalone diagnosis, treatment recommendation, or validated medical device.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A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1828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850" b="1">
                <a:solidFill>
                  <a:srgbClr val="23A6A1"/>
                </a:solidFill>
                <a:latin typeface="Aptos"/>
              </a:defRPr>
            </a:pPr>
            <a:r>
              <a:t>09 /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2400" b="1">
                <a:solidFill>
                  <a:srgbClr val="10243A"/>
                </a:solidFill>
                <a:latin typeface="Aptos"/>
              </a:defRPr>
            </a:pPr>
            <a:r>
              <a:t>GlucoTwin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78408"/>
            <a:ext cx="10972800" cy="292608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07386"/>
                </a:solidFill>
                <a:latin typeface="Aptos"/>
              </a:defRPr>
            </a:pPr>
            <a:r>
              <a:t>A modular workflow connecting clinical records and time-series signals to glucose-risk estimates and human-reviewed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6565392"/>
            <a:ext cx="8229600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720" b="0">
                <a:solidFill>
                  <a:srgbClr val="607386"/>
                </a:solidFill>
                <a:latin typeface="Aptos"/>
              </a:defRPr>
            </a:pPr>
            <a:r>
              <a:t>GLUCOTWIN • SYSTEM ARCHITECTURE •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94360" cy="16459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r">
              <a:spcAft>
                <a:spcPts val="300"/>
              </a:spcAft>
              <a:defRPr sz="800" b="1">
                <a:solidFill>
                  <a:srgbClr val="6073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30352" cy="365760"/>
          </a:xfrm>
          <a:prstGeom prst="roundRect">
            <a:avLst/>
          </a:prstGeom>
          <a:solidFill>
            <a:srgbClr val="247BA0"/>
          </a:solidFill>
          <a:ln w="1016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73936"/>
            <a:ext cx="438912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09928"/>
            <a:ext cx="1554480" cy="25603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0243A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19072"/>
            <a:ext cx="5486400" cy="27432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EHR + CGM + wearable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530352" cy="365760"/>
          </a:xfrm>
          <a:prstGeom prst="roundRect">
            <a:avLst/>
          </a:prstGeom>
          <a:solidFill>
            <a:srgbClr val="6D5BD0"/>
          </a:solidFill>
          <a:ln w="1016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438912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24328"/>
            <a:ext cx="1554480" cy="25603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0243A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633472"/>
            <a:ext cx="5486400" cy="27432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Validate, synchronize, engineer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40"/>
            <a:ext cx="530352" cy="365760"/>
          </a:xfrm>
          <a:prstGeom prst="roundRect">
            <a:avLst/>
          </a:prstGeom>
          <a:solidFill>
            <a:srgbClr val="3A8D73"/>
          </a:solidFill>
          <a:ln w="10160">
            <a:solidFill>
              <a:srgbClr val="3A8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02736"/>
            <a:ext cx="438912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38728"/>
            <a:ext cx="1554480" cy="25603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0243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47872"/>
            <a:ext cx="5486400" cy="27432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LightGBM model family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34840"/>
            <a:ext cx="530352" cy="365760"/>
          </a:xfrm>
          <a:prstGeom prst="roundRect">
            <a:avLst/>
          </a:prstGeom>
          <a:solidFill>
            <a:srgbClr val="23A6A1"/>
          </a:solidFill>
          <a:ln w="10160">
            <a:solidFill>
              <a:srgbClr val="23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17136"/>
            <a:ext cx="438912" cy="146304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53127"/>
            <a:ext cx="1554480" cy="256032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10243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62272"/>
            <a:ext cx="5486400" cy="27432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B2F43"/>
                </a:solidFill>
                <a:latin typeface="Aptos"/>
              </a:defRPr>
            </a:pPr>
            <a:r>
              <a:t>Risk estimates with clinician oversight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1828800"/>
            <a:ext cx="2423160" cy="3108960"/>
          </a:xfrm>
          <a:prstGeom prst="roundRect">
            <a:avLst/>
          </a:prstGeom>
          <a:solidFill>
            <a:srgbClr val="10243A"/>
          </a:solidFill>
          <a:ln w="10160">
            <a:solidFill>
              <a:srgbClr val="10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148840"/>
            <a:ext cx="1965960" cy="32004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000" b="1">
                <a:solidFill>
                  <a:srgbClr val="8DE1D7"/>
                </a:solidFill>
                <a:latin typeface="Aptos"/>
              </a:defRPr>
            </a:pPr>
            <a:r>
              <a:t>CORE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743200"/>
            <a:ext cx="1965960" cy="137160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Useful predictions require reliable data, transparent evaluation, and human judgement.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23560"/>
            <a:ext cx="10607040" cy="457200"/>
          </a:xfrm>
          <a:prstGeom prst="roundRect">
            <a:avLst/>
          </a:prstGeom>
          <a:solidFill>
            <a:srgbClr val="E8F7F5"/>
          </a:solidFill>
          <a:ln w="1016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42432"/>
            <a:ext cx="10241280" cy="182880"/>
          </a:xfrm>
          <a:prstGeom prst="rect">
            <a:avLst/>
          </a:prstGeom>
          <a:noFill/>
        </p:spPr>
        <p:txBody>
          <a:bodyPr wrap="square" lIns="54864" rIns="45720" tIns="36576" bIns="18288">
            <a:spAutoFit/>
          </a:bodyPr>
          <a:lstStyle/>
          <a:p>
            <a:pPr algn="ctr">
              <a:spcAft>
                <a:spcPts val="300"/>
              </a:spcAft>
              <a:defRPr sz="900" b="1">
                <a:solidFill>
                  <a:srgbClr val="23A6A1"/>
                </a:solidFill>
                <a:latin typeface="Aptos"/>
              </a:defRPr>
            </a:pPr>
            <a:r>
              <a:t>GlucoTwin • MedIntel AI / MedAI • Submission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System Architecture - Extended</dc:title>
  <dc:subject>Extended architecture deck for project submission</dc:subject>
  <dc:creator>GlucoTwin / MedIntel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